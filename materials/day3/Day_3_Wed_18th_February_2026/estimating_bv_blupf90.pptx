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uaga, Isidore (ILRI)" userId="f87b9061-8399-458d-92c2-0cd5a4a33945" providerId="ADAL" clId="{3AAF3CDE-437D-4FEC-A9E2-17CCB5C39B54}"/>
    <pc:docChg chg="modSld">
      <pc:chgData name="Houaga, Isidore (ILRI)" userId="f87b9061-8399-458d-92c2-0cd5a4a33945" providerId="ADAL" clId="{3AAF3CDE-437D-4FEC-A9E2-17CCB5C39B54}" dt="2026-02-18T05:14:30.353" v="1" actId="20577"/>
      <pc:docMkLst>
        <pc:docMk/>
      </pc:docMkLst>
      <pc:sldChg chg="modSp mod">
        <pc:chgData name="Houaga, Isidore (ILRI)" userId="f87b9061-8399-458d-92c2-0cd5a4a33945" providerId="ADAL" clId="{3AAF3CDE-437D-4FEC-A9E2-17CCB5C39B54}" dt="2026-02-18T05:14:30.353" v="1" actId="20577"/>
        <pc:sldMkLst>
          <pc:docMk/>
          <pc:sldMk cId="0" sldId="256"/>
        </pc:sldMkLst>
        <pc:spChg chg="mod">
          <ac:chgData name="Houaga, Isidore (ILRI)" userId="f87b9061-8399-458d-92c2-0cd5a4a33945" providerId="ADAL" clId="{3AAF3CDE-437D-4FEC-A9E2-17CCB5C39B54}" dt="2026-02-18T05:14:30.353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6120" y="151891"/>
            <a:ext cx="916813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32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53535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32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53535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32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32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6120" y="151891"/>
            <a:ext cx="1013333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32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23677" y="1098803"/>
            <a:ext cx="6908800" cy="159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53535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2980" y="6053926"/>
            <a:ext cx="585491" cy="5855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1221" y="381691"/>
            <a:ext cx="1767129" cy="6412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50598" y="453691"/>
            <a:ext cx="2018668" cy="5343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5070" y="453511"/>
            <a:ext cx="2243654" cy="534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9756" y="375897"/>
            <a:ext cx="1421088" cy="6037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77202" y="439221"/>
            <a:ext cx="1295171" cy="52616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04094" y="3353307"/>
            <a:ext cx="10265172" cy="3177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2100"/>
              </a:lnSpc>
              <a:spcBef>
                <a:spcPts val="100"/>
              </a:spcBef>
            </a:pPr>
            <a:r>
              <a:rPr lang="en-GB" sz="2800" dirty="0">
                <a:solidFill>
                  <a:srgbClr val="515151"/>
                </a:solidFill>
                <a:latin typeface="Arial MT"/>
                <a:cs typeface="Arial MT"/>
              </a:rPr>
              <a:t>Slides adapted from </a:t>
            </a:r>
            <a:r>
              <a:rPr sz="2800" dirty="0">
                <a:solidFill>
                  <a:srgbClr val="515151"/>
                </a:solidFill>
                <a:latin typeface="Arial MT"/>
                <a:cs typeface="Arial MT"/>
              </a:rPr>
              <a:t>Gabriela</a:t>
            </a:r>
            <a:r>
              <a:rPr sz="2800" spc="-85" dirty="0">
                <a:solidFill>
                  <a:srgbClr val="5151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15151"/>
                </a:solidFill>
                <a:latin typeface="Arial MT"/>
                <a:cs typeface="Arial MT"/>
              </a:rPr>
              <a:t>Mafra</a:t>
            </a:r>
            <a:r>
              <a:rPr sz="2800" spc="-90" dirty="0">
                <a:solidFill>
                  <a:srgbClr val="5151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15151"/>
                </a:solidFill>
                <a:latin typeface="Arial MT"/>
                <a:cs typeface="Arial MT"/>
              </a:rPr>
              <a:t>Fortuna,</a:t>
            </a:r>
            <a:r>
              <a:rPr sz="2800" spc="-100" dirty="0">
                <a:solidFill>
                  <a:srgbClr val="5151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15151"/>
                </a:solidFill>
                <a:latin typeface="Arial MT"/>
                <a:cs typeface="Arial MT"/>
              </a:rPr>
              <a:t>Raphael</a:t>
            </a:r>
            <a:r>
              <a:rPr sz="2800" spc="-80" dirty="0">
                <a:solidFill>
                  <a:srgbClr val="5151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15151"/>
                </a:solidFill>
                <a:latin typeface="Arial MT"/>
                <a:cs typeface="Arial MT"/>
              </a:rPr>
              <a:t>Mrode,</a:t>
            </a:r>
            <a:r>
              <a:rPr sz="2800" spc="-95" dirty="0">
                <a:solidFill>
                  <a:srgbClr val="5151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15151"/>
                </a:solidFill>
                <a:latin typeface="Arial MT"/>
                <a:cs typeface="Arial MT"/>
              </a:rPr>
              <a:t>Gregor</a:t>
            </a:r>
            <a:r>
              <a:rPr sz="2800" spc="-90" dirty="0">
                <a:solidFill>
                  <a:srgbClr val="515151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15151"/>
                </a:solidFill>
                <a:latin typeface="Arial MT"/>
                <a:cs typeface="Arial MT"/>
              </a:rPr>
              <a:t>Gorjanc </a:t>
            </a:r>
            <a:endParaRPr lang="en-GB" sz="2800" spc="-10" dirty="0">
              <a:solidFill>
                <a:srgbClr val="515151"/>
              </a:solidFill>
              <a:latin typeface="Arial MT"/>
              <a:cs typeface="Arial MT"/>
            </a:endParaRPr>
          </a:p>
          <a:p>
            <a:pPr marL="12700" marR="5080" algn="ctr">
              <a:lnSpc>
                <a:spcPct val="122100"/>
              </a:lnSpc>
              <a:spcBef>
                <a:spcPts val="100"/>
              </a:spcBef>
            </a:pPr>
            <a:r>
              <a:rPr sz="2800" spc="-20" dirty="0">
                <a:solidFill>
                  <a:srgbClr val="515151"/>
                </a:solidFill>
                <a:latin typeface="Arial MT"/>
                <a:cs typeface="Arial MT"/>
              </a:rPr>
              <a:t>ILRI</a:t>
            </a:r>
            <a:endParaRPr sz="28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515151"/>
                </a:solidFill>
                <a:latin typeface="Arial MT"/>
                <a:cs typeface="Arial MT"/>
              </a:rPr>
              <a:t>Feb</a:t>
            </a:r>
            <a:r>
              <a:rPr sz="2800" spc="-50" dirty="0">
                <a:solidFill>
                  <a:srgbClr val="515151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515151"/>
                </a:solidFill>
                <a:latin typeface="Arial MT"/>
                <a:cs typeface="Arial MT"/>
              </a:rPr>
              <a:t>202</a:t>
            </a:r>
            <a:r>
              <a:rPr lang="en-GB" sz="2800" spc="-20" dirty="0">
                <a:solidFill>
                  <a:srgbClr val="515151"/>
                </a:solidFill>
                <a:latin typeface="Arial MT"/>
                <a:cs typeface="Arial MT"/>
              </a:rPr>
              <a:t>6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2800" dirty="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</a:pPr>
            <a:r>
              <a:rPr sz="2800" spc="-10" dirty="0">
                <a:solidFill>
                  <a:srgbClr val="42AAE1"/>
                </a:solidFill>
                <a:latin typeface="Arial MT"/>
                <a:cs typeface="Arial MT"/>
              </a:rPr>
              <a:t>@HighlanderLab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04093" y="1722627"/>
            <a:ext cx="101885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Estimating</a:t>
            </a:r>
            <a:r>
              <a:rPr sz="4000" spc="-85" dirty="0"/>
              <a:t> </a:t>
            </a:r>
            <a:r>
              <a:rPr sz="4000" dirty="0"/>
              <a:t>breeding</a:t>
            </a:r>
            <a:r>
              <a:rPr sz="4000" spc="-80" dirty="0"/>
              <a:t> </a:t>
            </a:r>
            <a:r>
              <a:rPr sz="4000" dirty="0"/>
              <a:t>values</a:t>
            </a:r>
            <a:r>
              <a:rPr sz="4000" spc="-75" dirty="0"/>
              <a:t> </a:t>
            </a:r>
            <a:r>
              <a:rPr sz="4000" dirty="0"/>
              <a:t>with</a:t>
            </a:r>
            <a:r>
              <a:rPr sz="4000" spc="-80" dirty="0"/>
              <a:t> </a:t>
            </a:r>
            <a:r>
              <a:rPr sz="4000" spc="-10" dirty="0"/>
              <a:t>BLUPF90</a:t>
            </a:r>
            <a:endParaRPr sz="4000"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4000" y="5689599"/>
            <a:ext cx="3414735" cy="890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6740" y="1001267"/>
            <a:ext cx="9602470" cy="23634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Programme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for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solving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mixed-models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Estimate</a:t>
            </a:r>
            <a:r>
              <a:rPr sz="3200" spc="-5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variance</a:t>
            </a:r>
            <a:r>
              <a:rPr sz="3200" spc="-5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components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Estimate</a:t>
            </a:r>
            <a:r>
              <a:rPr sz="3200" spc="-6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approximated</a:t>
            </a:r>
            <a:r>
              <a:rPr sz="3200" spc="-6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model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accuracy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Perform</a:t>
            </a:r>
            <a:r>
              <a:rPr sz="32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Genome-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wide</a:t>
            </a:r>
            <a:r>
              <a:rPr sz="32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association</a:t>
            </a:r>
            <a:r>
              <a:rPr sz="32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studies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(GWAS)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10" dirty="0"/>
              <a:t>BLUPF90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10" dirty="0"/>
              <a:t>BLUPF90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216" y="1146351"/>
            <a:ext cx="7772400" cy="5661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10" dirty="0"/>
              <a:t>BLUPF90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69216" y="979200"/>
            <a:ext cx="7772400" cy="5829300"/>
            <a:chOff x="2369216" y="979200"/>
            <a:chExt cx="7772400" cy="5829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9216" y="1146351"/>
              <a:ext cx="7772400" cy="566154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02859" y="2260102"/>
              <a:ext cx="1692275" cy="837565"/>
            </a:xfrm>
            <a:custGeom>
              <a:avLst/>
              <a:gdLst/>
              <a:ahLst/>
              <a:cxnLst/>
              <a:rect l="l" t="t" r="r" b="b"/>
              <a:pathLst>
                <a:path w="1692275" h="837564">
                  <a:moveTo>
                    <a:pt x="0" y="418529"/>
                  </a:moveTo>
                  <a:lnTo>
                    <a:pt x="9173" y="356682"/>
                  </a:lnTo>
                  <a:lnTo>
                    <a:pt x="35822" y="297652"/>
                  </a:lnTo>
                  <a:lnTo>
                    <a:pt x="78636" y="242088"/>
                  </a:lnTo>
                  <a:lnTo>
                    <a:pt x="136308" y="190635"/>
                  </a:lnTo>
                  <a:lnTo>
                    <a:pt x="170307" y="166654"/>
                  </a:lnTo>
                  <a:lnTo>
                    <a:pt x="207529" y="143943"/>
                  </a:lnTo>
                  <a:lnTo>
                    <a:pt x="247811" y="122584"/>
                  </a:lnTo>
                  <a:lnTo>
                    <a:pt x="290989" y="102658"/>
                  </a:lnTo>
                  <a:lnTo>
                    <a:pt x="336900" y="84245"/>
                  </a:lnTo>
                  <a:lnTo>
                    <a:pt x="385380" y="67427"/>
                  </a:lnTo>
                  <a:lnTo>
                    <a:pt x="436266" y="52285"/>
                  </a:lnTo>
                  <a:lnTo>
                    <a:pt x="489394" y="38899"/>
                  </a:lnTo>
                  <a:lnTo>
                    <a:pt x="544600" y="27350"/>
                  </a:lnTo>
                  <a:lnTo>
                    <a:pt x="601720" y="17720"/>
                  </a:lnTo>
                  <a:lnTo>
                    <a:pt x="660592" y="10088"/>
                  </a:lnTo>
                  <a:lnTo>
                    <a:pt x="721052" y="4537"/>
                  </a:lnTo>
                  <a:lnTo>
                    <a:pt x="782936" y="1147"/>
                  </a:lnTo>
                  <a:lnTo>
                    <a:pt x="846080" y="0"/>
                  </a:lnTo>
                  <a:lnTo>
                    <a:pt x="909223" y="1147"/>
                  </a:lnTo>
                  <a:lnTo>
                    <a:pt x="971107" y="4537"/>
                  </a:lnTo>
                  <a:lnTo>
                    <a:pt x="1031567" y="10088"/>
                  </a:lnTo>
                  <a:lnTo>
                    <a:pt x="1090439" y="17720"/>
                  </a:lnTo>
                  <a:lnTo>
                    <a:pt x="1147559" y="27350"/>
                  </a:lnTo>
                  <a:lnTo>
                    <a:pt x="1202765" y="38899"/>
                  </a:lnTo>
                  <a:lnTo>
                    <a:pt x="1255893" y="52285"/>
                  </a:lnTo>
                  <a:lnTo>
                    <a:pt x="1306779" y="67427"/>
                  </a:lnTo>
                  <a:lnTo>
                    <a:pt x="1355259" y="84245"/>
                  </a:lnTo>
                  <a:lnTo>
                    <a:pt x="1401170" y="102658"/>
                  </a:lnTo>
                  <a:lnTo>
                    <a:pt x="1444348" y="122584"/>
                  </a:lnTo>
                  <a:lnTo>
                    <a:pt x="1484630" y="143943"/>
                  </a:lnTo>
                  <a:lnTo>
                    <a:pt x="1521852" y="166654"/>
                  </a:lnTo>
                  <a:lnTo>
                    <a:pt x="1555851" y="190635"/>
                  </a:lnTo>
                  <a:lnTo>
                    <a:pt x="1586462" y="215807"/>
                  </a:lnTo>
                  <a:lnTo>
                    <a:pt x="1636869" y="269396"/>
                  </a:lnTo>
                  <a:lnTo>
                    <a:pt x="1671764" y="326774"/>
                  </a:lnTo>
                  <a:lnTo>
                    <a:pt x="1689839" y="387294"/>
                  </a:lnTo>
                  <a:lnTo>
                    <a:pt x="1692160" y="418529"/>
                  </a:lnTo>
                  <a:lnTo>
                    <a:pt x="1689839" y="449764"/>
                  </a:lnTo>
                  <a:lnTo>
                    <a:pt x="1671764" y="510284"/>
                  </a:lnTo>
                  <a:lnTo>
                    <a:pt x="1636869" y="567662"/>
                  </a:lnTo>
                  <a:lnTo>
                    <a:pt x="1586462" y="621251"/>
                  </a:lnTo>
                  <a:lnTo>
                    <a:pt x="1555851" y="646423"/>
                  </a:lnTo>
                  <a:lnTo>
                    <a:pt x="1521852" y="670404"/>
                  </a:lnTo>
                  <a:lnTo>
                    <a:pt x="1484630" y="693115"/>
                  </a:lnTo>
                  <a:lnTo>
                    <a:pt x="1444348" y="714474"/>
                  </a:lnTo>
                  <a:lnTo>
                    <a:pt x="1401170" y="734400"/>
                  </a:lnTo>
                  <a:lnTo>
                    <a:pt x="1355259" y="752813"/>
                  </a:lnTo>
                  <a:lnTo>
                    <a:pt x="1306779" y="769631"/>
                  </a:lnTo>
                  <a:lnTo>
                    <a:pt x="1255893" y="784773"/>
                  </a:lnTo>
                  <a:lnTo>
                    <a:pt x="1202765" y="798159"/>
                  </a:lnTo>
                  <a:lnTo>
                    <a:pt x="1147559" y="809708"/>
                  </a:lnTo>
                  <a:lnTo>
                    <a:pt x="1090439" y="819338"/>
                  </a:lnTo>
                  <a:lnTo>
                    <a:pt x="1031567" y="826970"/>
                  </a:lnTo>
                  <a:lnTo>
                    <a:pt x="971107" y="832521"/>
                  </a:lnTo>
                  <a:lnTo>
                    <a:pt x="909223" y="835911"/>
                  </a:lnTo>
                  <a:lnTo>
                    <a:pt x="846080" y="837059"/>
                  </a:lnTo>
                  <a:lnTo>
                    <a:pt x="782936" y="835911"/>
                  </a:lnTo>
                  <a:lnTo>
                    <a:pt x="721052" y="832521"/>
                  </a:lnTo>
                  <a:lnTo>
                    <a:pt x="660592" y="826970"/>
                  </a:lnTo>
                  <a:lnTo>
                    <a:pt x="601720" y="819338"/>
                  </a:lnTo>
                  <a:lnTo>
                    <a:pt x="544600" y="809708"/>
                  </a:lnTo>
                  <a:lnTo>
                    <a:pt x="489394" y="798159"/>
                  </a:lnTo>
                  <a:lnTo>
                    <a:pt x="436266" y="784773"/>
                  </a:lnTo>
                  <a:lnTo>
                    <a:pt x="385380" y="769631"/>
                  </a:lnTo>
                  <a:lnTo>
                    <a:pt x="336900" y="752813"/>
                  </a:lnTo>
                  <a:lnTo>
                    <a:pt x="290989" y="734400"/>
                  </a:lnTo>
                  <a:lnTo>
                    <a:pt x="247811" y="714474"/>
                  </a:lnTo>
                  <a:lnTo>
                    <a:pt x="207529" y="693115"/>
                  </a:lnTo>
                  <a:lnTo>
                    <a:pt x="170307" y="670404"/>
                  </a:lnTo>
                  <a:lnTo>
                    <a:pt x="136308" y="646423"/>
                  </a:lnTo>
                  <a:lnTo>
                    <a:pt x="105697" y="621251"/>
                  </a:lnTo>
                  <a:lnTo>
                    <a:pt x="55290" y="567662"/>
                  </a:lnTo>
                  <a:lnTo>
                    <a:pt x="20395" y="510284"/>
                  </a:lnTo>
                  <a:lnTo>
                    <a:pt x="2320" y="449764"/>
                  </a:lnTo>
                  <a:lnTo>
                    <a:pt x="0" y="418529"/>
                  </a:lnTo>
                  <a:close/>
                </a:path>
              </a:pathLst>
            </a:custGeom>
            <a:ln w="57150">
              <a:solidFill>
                <a:srgbClr val="AC0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9686" y="1007775"/>
              <a:ext cx="1692275" cy="837565"/>
            </a:xfrm>
            <a:custGeom>
              <a:avLst/>
              <a:gdLst/>
              <a:ahLst/>
              <a:cxnLst/>
              <a:rect l="l" t="t" r="r" b="b"/>
              <a:pathLst>
                <a:path w="1692275" h="837564">
                  <a:moveTo>
                    <a:pt x="0" y="418529"/>
                  </a:moveTo>
                  <a:lnTo>
                    <a:pt x="9173" y="356682"/>
                  </a:lnTo>
                  <a:lnTo>
                    <a:pt x="35822" y="297652"/>
                  </a:lnTo>
                  <a:lnTo>
                    <a:pt x="78636" y="242088"/>
                  </a:lnTo>
                  <a:lnTo>
                    <a:pt x="136308" y="190635"/>
                  </a:lnTo>
                  <a:lnTo>
                    <a:pt x="170307" y="166654"/>
                  </a:lnTo>
                  <a:lnTo>
                    <a:pt x="207529" y="143943"/>
                  </a:lnTo>
                  <a:lnTo>
                    <a:pt x="247811" y="122584"/>
                  </a:lnTo>
                  <a:lnTo>
                    <a:pt x="290989" y="102658"/>
                  </a:lnTo>
                  <a:lnTo>
                    <a:pt x="336900" y="84245"/>
                  </a:lnTo>
                  <a:lnTo>
                    <a:pt x="385380" y="67427"/>
                  </a:lnTo>
                  <a:lnTo>
                    <a:pt x="436266" y="52285"/>
                  </a:lnTo>
                  <a:lnTo>
                    <a:pt x="489394" y="38899"/>
                  </a:lnTo>
                  <a:lnTo>
                    <a:pt x="544600" y="27350"/>
                  </a:lnTo>
                  <a:lnTo>
                    <a:pt x="601720" y="17720"/>
                  </a:lnTo>
                  <a:lnTo>
                    <a:pt x="660592" y="10088"/>
                  </a:lnTo>
                  <a:lnTo>
                    <a:pt x="721052" y="4537"/>
                  </a:lnTo>
                  <a:lnTo>
                    <a:pt x="782936" y="1147"/>
                  </a:lnTo>
                  <a:lnTo>
                    <a:pt x="846080" y="0"/>
                  </a:lnTo>
                  <a:lnTo>
                    <a:pt x="909223" y="1147"/>
                  </a:lnTo>
                  <a:lnTo>
                    <a:pt x="971107" y="4537"/>
                  </a:lnTo>
                  <a:lnTo>
                    <a:pt x="1031567" y="10088"/>
                  </a:lnTo>
                  <a:lnTo>
                    <a:pt x="1090439" y="17720"/>
                  </a:lnTo>
                  <a:lnTo>
                    <a:pt x="1147559" y="27350"/>
                  </a:lnTo>
                  <a:lnTo>
                    <a:pt x="1202765" y="38899"/>
                  </a:lnTo>
                  <a:lnTo>
                    <a:pt x="1255893" y="52285"/>
                  </a:lnTo>
                  <a:lnTo>
                    <a:pt x="1306779" y="67427"/>
                  </a:lnTo>
                  <a:lnTo>
                    <a:pt x="1355259" y="84245"/>
                  </a:lnTo>
                  <a:lnTo>
                    <a:pt x="1401170" y="102658"/>
                  </a:lnTo>
                  <a:lnTo>
                    <a:pt x="1444348" y="122584"/>
                  </a:lnTo>
                  <a:lnTo>
                    <a:pt x="1484630" y="143943"/>
                  </a:lnTo>
                  <a:lnTo>
                    <a:pt x="1521852" y="166654"/>
                  </a:lnTo>
                  <a:lnTo>
                    <a:pt x="1555851" y="190635"/>
                  </a:lnTo>
                  <a:lnTo>
                    <a:pt x="1586462" y="215807"/>
                  </a:lnTo>
                  <a:lnTo>
                    <a:pt x="1636869" y="269396"/>
                  </a:lnTo>
                  <a:lnTo>
                    <a:pt x="1671764" y="326774"/>
                  </a:lnTo>
                  <a:lnTo>
                    <a:pt x="1689839" y="387294"/>
                  </a:lnTo>
                  <a:lnTo>
                    <a:pt x="1692160" y="418529"/>
                  </a:lnTo>
                  <a:lnTo>
                    <a:pt x="1689839" y="449764"/>
                  </a:lnTo>
                  <a:lnTo>
                    <a:pt x="1671764" y="510284"/>
                  </a:lnTo>
                  <a:lnTo>
                    <a:pt x="1636869" y="567662"/>
                  </a:lnTo>
                  <a:lnTo>
                    <a:pt x="1586462" y="621251"/>
                  </a:lnTo>
                  <a:lnTo>
                    <a:pt x="1555851" y="646423"/>
                  </a:lnTo>
                  <a:lnTo>
                    <a:pt x="1521852" y="670404"/>
                  </a:lnTo>
                  <a:lnTo>
                    <a:pt x="1484630" y="693115"/>
                  </a:lnTo>
                  <a:lnTo>
                    <a:pt x="1444348" y="714474"/>
                  </a:lnTo>
                  <a:lnTo>
                    <a:pt x="1401170" y="734400"/>
                  </a:lnTo>
                  <a:lnTo>
                    <a:pt x="1355259" y="752813"/>
                  </a:lnTo>
                  <a:lnTo>
                    <a:pt x="1306779" y="769631"/>
                  </a:lnTo>
                  <a:lnTo>
                    <a:pt x="1255893" y="784773"/>
                  </a:lnTo>
                  <a:lnTo>
                    <a:pt x="1202765" y="798159"/>
                  </a:lnTo>
                  <a:lnTo>
                    <a:pt x="1147559" y="809708"/>
                  </a:lnTo>
                  <a:lnTo>
                    <a:pt x="1090439" y="819338"/>
                  </a:lnTo>
                  <a:lnTo>
                    <a:pt x="1031567" y="826970"/>
                  </a:lnTo>
                  <a:lnTo>
                    <a:pt x="971107" y="832521"/>
                  </a:lnTo>
                  <a:lnTo>
                    <a:pt x="909223" y="835911"/>
                  </a:lnTo>
                  <a:lnTo>
                    <a:pt x="846080" y="837059"/>
                  </a:lnTo>
                  <a:lnTo>
                    <a:pt x="782936" y="835911"/>
                  </a:lnTo>
                  <a:lnTo>
                    <a:pt x="721052" y="832521"/>
                  </a:lnTo>
                  <a:lnTo>
                    <a:pt x="660592" y="826970"/>
                  </a:lnTo>
                  <a:lnTo>
                    <a:pt x="601720" y="819338"/>
                  </a:lnTo>
                  <a:lnTo>
                    <a:pt x="544600" y="809708"/>
                  </a:lnTo>
                  <a:lnTo>
                    <a:pt x="489394" y="798159"/>
                  </a:lnTo>
                  <a:lnTo>
                    <a:pt x="436266" y="784773"/>
                  </a:lnTo>
                  <a:lnTo>
                    <a:pt x="385380" y="769631"/>
                  </a:lnTo>
                  <a:lnTo>
                    <a:pt x="336900" y="752813"/>
                  </a:lnTo>
                  <a:lnTo>
                    <a:pt x="290989" y="734400"/>
                  </a:lnTo>
                  <a:lnTo>
                    <a:pt x="247811" y="714474"/>
                  </a:lnTo>
                  <a:lnTo>
                    <a:pt x="207529" y="693115"/>
                  </a:lnTo>
                  <a:lnTo>
                    <a:pt x="170307" y="670404"/>
                  </a:lnTo>
                  <a:lnTo>
                    <a:pt x="136308" y="646423"/>
                  </a:lnTo>
                  <a:lnTo>
                    <a:pt x="105697" y="621251"/>
                  </a:lnTo>
                  <a:lnTo>
                    <a:pt x="55290" y="567662"/>
                  </a:lnTo>
                  <a:lnTo>
                    <a:pt x="20395" y="510284"/>
                  </a:lnTo>
                  <a:lnTo>
                    <a:pt x="2320" y="449764"/>
                  </a:lnTo>
                  <a:lnTo>
                    <a:pt x="0" y="418529"/>
                  </a:lnTo>
                  <a:close/>
                </a:path>
              </a:pathLst>
            </a:custGeom>
            <a:ln w="57150">
              <a:solidFill>
                <a:srgbClr val="AC0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6740" y="1002429"/>
            <a:ext cx="2471420" cy="53606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Char char="•"/>
              <a:tabLst>
                <a:tab pos="354965" algn="l"/>
              </a:tabLst>
            </a:pP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PBLUP</a:t>
            </a:r>
            <a:endParaRPr sz="32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65"/>
              </a:spcBef>
              <a:buChar char="–"/>
              <a:tabLst>
                <a:tab pos="754380" algn="l"/>
              </a:tabLst>
            </a:pP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Pedigree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745"/>
              </a:spcBef>
              <a:buChar char="–"/>
              <a:tabLst>
                <a:tab pos="754380" algn="l"/>
              </a:tabLst>
            </a:pP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Phenotype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30"/>
              </a:spcBef>
              <a:buChar char="•"/>
              <a:tabLst>
                <a:tab pos="354965" algn="l"/>
              </a:tabLst>
            </a:pP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GBLUP</a:t>
            </a:r>
            <a:endParaRPr sz="32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Char char="–"/>
              <a:tabLst>
                <a:tab pos="754380" algn="l"/>
              </a:tabLst>
            </a:pPr>
            <a:r>
              <a:rPr sz="2800" spc="-25" dirty="0">
                <a:solidFill>
                  <a:srgbClr val="535353"/>
                </a:solidFill>
                <a:latin typeface="Arial MT"/>
                <a:cs typeface="Arial MT"/>
              </a:rPr>
              <a:t>SNP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50"/>
              </a:spcBef>
              <a:buChar char="–"/>
              <a:tabLst>
                <a:tab pos="754380" algn="l"/>
              </a:tabLst>
            </a:pP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Phenotype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Char char="•"/>
              <a:tabLst>
                <a:tab pos="354965" algn="l"/>
                <a:tab pos="469900" algn="l"/>
              </a:tabLst>
            </a:pP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ssGBLUP</a:t>
            </a:r>
            <a:endParaRPr sz="32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65"/>
              </a:spcBef>
              <a:buChar char="–"/>
              <a:tabLst>
                <a:tab pos="754380" algn="l"/>
              </a:tabLst>
            </a:pP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Pedigree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45"/>
              </a:spcBef>
              <a:buChar char="–"/>
              <a:tabLst>
                <a:tab pos="754380" algn="l"/>
              </a:tabLst>
            </a:pPr>
            <a:r>
              <a:rPr sz="2800" spc="-25" dirty="0">
                <a:solidFill>
                  <a:srgbClr val="535353"/>
                </a:solidFill>
                <a:latin typeface="Arial MT"/>
                <a:cs typeface="Arial MT"/>
              </a:rPr>
              <a:t>SNP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25"/>
              </a:spcBef>
              <a:buChar char="–"/>
              <a:tabLst>
                <a:tab pos="754380" algn="l"/>
              </a:tabLst>
            </a:pP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Phenotype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-45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spc="-10" dirty="0"/>
              <a:t>course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-110" dirty="0"/>
              <a:t> </a:t>
            </a:r>
            <a:r>
              <a:rPr spc="-10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02429"/>
            <a:ext cx="4965065" cy="36842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Pedigree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format:</a:t>
            </a:r>
            <a:endParaRPr sz="32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6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Iid</a:t>
            </a:r>
            <a:r>
              <a:rPr sz="28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fid</a:t>
            </a:r>
            <a:r>
              <a:rPr sz="28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535353"/>
                </a:solidFill>
                <a:latin typeface="Arial MT"/>
                <a:cs typeface="Arial MT"/>
              </a:rPr>
              <a:t>mid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74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No</a:t>
            </a:r>
            <a:r>
              <a:rPr sz="28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header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2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Cannot</a:t>
            </a:r>
            <a:r>
              <a:rPr sz="2800" spc="-8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contain</a:t>
            </a:r>
            <a:r>
              <a:rPr sz="2800" spc="-7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535353"/>
                </a:solidFill>
                <a:latin typeface="Arial MT"/>
                <a:cs typeface="Arial MT"/>
              </a:rPr>
              <a:t>#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4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Space</a:t>
            </a:r>
            <a:r>
              <a:rPr sz="2800" spc="-6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delimited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74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Missing</a:t>
            </a:r>
            <a:r>
              <a:rPr sz="28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data</a:t>
            </a:r>
            <a:r>
              <a:rPr sz="28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is</a:t>
            </a:r>
            <a:r>
              <a:rPr sz="28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coded</a:t>
            </a:r>
            <a:r>
              <a:rPr sz="28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as</a:t>
            </a:r>
            <a:r>
              <a:rPr sz="2800" spc="-50" dirty="0">
                <a:solidFill>
                  <a:srgbClr val="535353"/>
                </a:solidFill>
                <a:latin typeface="Arial MT"/>
                <a:cs typeface="Arial MT"/>
              </a:rPr>
              <a:t> 0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2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No</a:t>
            </a:r>
            <a:r>
              <a:rPr sz="28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need</a:t>
            </a:r>
            <a:r>
              <a:rPr sz="28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to</a:t>
            </a:r>
            <a:r>
              <a:rPr sz="28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be</a:t>
            </a:r>
            <a:r>
              <a:rPr sz="28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ordered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600950" y="1189065"/>
          <a:ext cx="3594100" cy="5044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id1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50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50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id2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50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50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id3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50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id2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id4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id1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id2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id5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id3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id4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id6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id3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3200" spc="-25" dirty="0">
                          <a:solidFill>
                            <a:srgbClr val="00325F"/>
                          </a:solidFill>
                          <a:latin typeface="Segoe UI"/>
                          <a:cs typeface="Segoe UI"/>
                        </a:rPr>
                        <a:t>id4</a:t>
                      </a:r>
                      <a:endParaRPr sz="32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-110" dirty="0"/>
              <a:t> </a:t>
            </a:r>
            <a:r>
              <a:rPr spc="-10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02429"/>
            <a:ext cx="3698240" cy="265684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Data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file:</a:t>
            </a:r>
            <a:endParaRPr sz="32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6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No</a:t>
            </a:r>
            <a:r>
              <a:rPr sz="28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header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74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Cannot</a:t>
            </a:r>
            <a:r>
              <a:rPr sz="2800" spc="-8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contain</a:t>
            </a:r>
            <a:r>
              <a:rPr sz="2800" spc="-7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535353"/>
                </a:solidFill>
                <a:latin typeface="Arial MT"/>
                <a:cs typeface="Arial MT"/>
              </a:rPr>
              <a:t>#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2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Space</a:t>
            </a:r>
            <a:r>
              <a:rPr sz="2800" spc="-6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35353"/>
                </a:solidFill>
                <a:latin typeface="Arial MT"/>
                <a:cs typeface="Arial MT"/>
              </a:rPr>
              <a:t>delimited</a:t>
            </a:r>
            <a:endParaRPr sz="28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45"/>
              </a:spcBef>
              <a:buChar char="–"/>
              <a:tabLst>
                <a:tab pos="754380" algn="l"/>
              </a:tabLst>
            </a:pP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Missing</a:t>
            </a:r>
            <a:r>
              <a:rPr sz="2800" spc="-6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is</a:t>
            </a:r>
            <a:r>
              <a:rPr sz="2800" spc="-6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35353"/>
                </a:solidFill>
                <a:latin typeface="Arial MT"/>
                <a:cs typeface="Arial MT"/>
              </a:rPr>
              <a:t>coded</a:t>
            </a:r>
            <a:r>
              <a:rPr sz="2800" spc="-5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535353"/>
                </a:solidFill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0150" y="4051300"/>
            <a:ext cx="9323713" cy="25570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420" y="3126740"/>
            <a:ext cx="508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Pedigree</a:t>
            </a:r>
            <a:r>
              <a:rPr spc="-70" dirty="0"/>
              <a:t> </a:t>
            </a:r>
            <a:r>
              <a:rPr dirty="0"/>
              <a:t>Blup</a:t>
            </a:r>
            <a:r>
              <a:rPr spc="-60" dirty="0"/>
              <a:t> </a:t>
            </a:r>
            <a:r>
              <a:rPr spc="-10" dirty="0"/>
              <a:t>(PBLUP)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6740" y="1001267"/>
            <a:ext cx="6343650" cy="23634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Renumbering</a:t>
            </a:r>
            <a:r>
              <a:rPr sz="3200" spc="-5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programme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Performs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pedigree</a:t>
            </a:r>
            <a:r>
              <a:rPr sz="3200" spc="-5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checks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Perform</a:t>
            </a:r>
            <a:r>
              <a:rPr sz="32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data</a:t>
            </a:r>
            <a:r>
              <a:rPr sz="32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summaries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Supports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unknown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parent</a:t>
            </a:r>
            <a:r>
              <a:rPr sz="32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groups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6740" y="5188203"/>
            <a:ext cx="9819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28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sz="28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8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convenient</a:t>
            </a:r>
            <a:r>
              <a:rPr sz="28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8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reduces</a:t>
            </a:r>
            <a:r>
              <a:rPr sz="28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8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chances</a:t>
            </a:r>
            <a:r>
              <a:rPr sz="28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8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further</a:t>
            </a:r>
            <a:r>
              <a:rPr sz="28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error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Getting</a:t>
            </a:r>
            <a:r>
              <a:rPr spc="-65" dirty="0"/>
              <a:t> </a:t>
            </a:r>
            <a:r>
              <a:rPr dirty="0"/>
              <a:t>started:</a:t>
            </a:r>
            <a:r>
              <a:rPr spc="-55" dirty="0"/>
              <a:t> </a:t>
            </a:r>
            <a:r>
              <a:rPr spc="-10" dirty="0"/>
              <a:t>RENUMF90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Parameter</a:t>
            </a:r>
            <a:r>
              <a:rPr spc="-50" dirty="0"/>
              <a:t> </a:t>
            </a:r>
            <a:r>
              <a:rPr spc="-20" dirty="0"/>
              <a:t>files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380" y="1438836"/>
            <a:ext cx="11050537" cy="2754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Parameter</a:t>
            </a:r>
            <a:r>
              <a:rPr spc="-50" dirty="0"/>
              <a:t> </a:t>
            </a:r>
            <a:r>
              <a:rPr spc="-20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01267"/>
            <a:ext cx="10985500" cy="50063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Datafile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Pedigree/SNP</a:t>
            </a:r>
            <a:r>
              <a:rPr sz="3200" spc="-16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file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What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are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covariates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What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are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random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effects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Variances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Char char="•"/>
              <a:tabLst>
                <a:tab pos="354965" algn="l"/>
              </a:tabLst>
            </a:pP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…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Arial MT"/>
              <a:cs typeface="Arial MT"/>
            </a:endParaRPr>
          </a:p>
          <a:p>
            <a:pPr marL="355600" marR="5080">
              <a:lnSpc>
                <a:spcPct val="101899"/>
              </a:lnSpc>
            </a:pP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All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the</a:t>
            </a:r>
            <a:r>
              <a:rPr sz="3200" b="1" spc="-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information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that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you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used</a:t>
            </a:r>
            <a:r>
              <a:rPr sz="3200" b="1" spc="-2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to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build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and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solve</a:t>
            </a:r>
            <a:r>
              <a:rPr sz="3200" b="1" spc="-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the </a:t>
            </a:r>
            <a:r>
              <a:rPr sz="3200" b="1" spc="-20" dirty="0">
                <a:solidFill>
                  <a:srgbClr val="535353"/>
                </a:solidFill>
                <a:latin typeface="Arial"/>
                <a:cs typeface="Arial"/>
              </a:rPr>
              <a:t>mixed-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models</a:t>
            </a:r>
            <a:r>
              <a:rPr sz="3200" b="1" spc="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so</a:t>
            </a:r>
            <a:r>
              <a:rPr sz="3200" b="1" spc="1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far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85" dirty="0"/>
              <a:t> </a:t>
            </a:r>
            <a:r>
              <a:rPr dirty="0"/>
              <a:t>parameter</a:t>
            </a:r>
            <a:r>
              <a:rPr spc="-75" dirty="0"/>
              <a:t> </a:t>
            </a:r>
            <a:r>
              <a:rPr spc="-20" dirty="0"/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758" y="1293997"/>
            <a:ext cx="11456070" cy="1866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85" dirty="0"/>
              <a:t> </a:t>
            </a:r>
            <a:r>
              <a:rPr dirty="0"/>
              <a:t>parameter</a:t>
            </a:r>
            <a:r>
              <a:rPr spc="-75" dirty="0"/>
              <a:t> </a:t>
            </a:r>
            <a:r>
              <a:rPr spc="-20" dirty="0"/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887" y="879266"/>
            <a:ext cx="11265689" cy="58485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85" dirty="0"/>
              <a:t> </a:t>
            </a:r>
            <a:r>
              <a:rPr dirty="0"/>
              <a:t>parameter</a:t>
            </a:r>
            <a:r>
              <a:rPr spc="-75" dirty="0"/>
              <a:t> </a:t>
            </a:r>
            <a:r>
              <a:rPr spc="-20" dirty="0"/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98803"/>
            <a:ext cx="10245090" cy="10071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0" marR="5080" indent="-342900">
              <a:lnSpc>
                <a:spcPct val="101299"/>
              </a:lnSpc>
              <a:spcBef>
                <a:spcPts val="50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Save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template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by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piping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output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of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renumf90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command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to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file: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8" y="2768725"/>
            <a:ext cx="11172013" cy="10666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85" dirty="0"/>
              <a:t> </a:t>
            </a:r>
            <a:r>
              <a:rPr dirty="0"/>
              <a:t>parameter</a:t>
            </a:r>
            <a:r>
              <a:rPr spc="-75" dirty="0"/>
              <a:t> </a:t>
            </a:r>
            <a:r>
              <a:rPr spc="-20" dirty="0"/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98803"/>
            <a:ext cx="10245090" cy="10071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0" marR="5080" indent="-342900">
              <a:lnSpc>
                <a:spcPct val="101299"/>
              </a:lnSpc>
              <a:spcBef>
                <a:spcPts val="50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Save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template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by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piping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output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of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renumf90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command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to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file: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740" y="4515611"/>
            <a:ext cx="112750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will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use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text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editor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to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adapt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that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template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to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our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dataset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8" y="2768725"/>
            <a:ext cx="11172013" cy="10666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85" dirty="0"/>
              <a:t> </a:t>
            </a:r>
            <a:r>
              <a:rPr dirty="0"/>
              <a:t>parameter</a:t>
            </a:r>
            <a:r>
              <a:rPr spc="-75" dirty="0"/>
              <a:t> </a:t>
            </a:r>
            <a:r>
              <a:rPr spc="-20" dirty="0"/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98803"/>
            <a:ext cx="15868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Model: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29570" y="2195754"/>
            <a:ext cx="8316595" cy="450850"/>
            <a:chOff x="2129570" y="2195754"/>
            <a:chExt cx="8316595" cy="450850"/>
          </a:xfrm>
        </p:grpSpPr>
        <p:sp>
          <p:nvSpPr>
            <p:cNvPr id="5" name="object 5"/>
            <p:cNvSpPr/>
            <p:nvPr/>
          </p:nvSpPr>
          <p:spPr>
            <a:xfrm>
              <a:off x="10426696" y="2214805"/>
              <a:ext cx="0" cy="431800"/>
            </a:xfrm>
            <a:custGeom>
              <a:avLst/>
              <a:gdLst/>
              <a:ahLst/>
              <a:cxnLst/>
              <a:rect l="l" t="t" r="r" b="b"/>
              <a:pathLst>
                <a:path h="431800">
                  <a:moveTo>
                    <a:pt x="1" y="4318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65821" y="2214804"/>
              <a:ext cx="8261350" cy="0"/>
            </a:xfrm>
            <a:custGeom>
              <a:avLst/>
              <a:gdLst/>
              <a:ahLst/>
              <a:cxnLst/>
              <a:rect l="l" t="t" r="r" b="b"/>
              <a:pathLst>
                <a:path w="8261350">
                  <a:moveTo>
                    <a:pt x="0" y="1"/>
                  </a:moveTo>
                  <a:lnTo>
                    <a:pt x="8260877" y="0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8620" y="2214805"/>
              <a:ext cx="0" cy="431800"/>
            </a:xfrm>
            <a:custGeom>
              <a:avLst/>
              <a:gdLst/>
              <a:ahLst/>
              <a:cxnLst/>
              <a:rect l="l" t="t" r="r" b="b"/>
              <a:pathLst>
                <a:path h="431800">
                  <a:moveTo>
                    <a:pt x="1" y="4318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2042" y="1703323"/>
            <a:ext cx="9966960" cy="1929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325F"/>
                </a:solidFill>
                <a:latin typeface="Segoe UI"/>
                <a:cs typeface="Segoe UI"/>
              </a:rPr>
              <a:t>FIXED</a:t>
            </a:r>
            <a:endParaRPr sz="2400">
              <a:latin typeface="Segoe UI"/>
              <a:cs typeface="Segoe UI"/>
            </a:endParaRPr>
          </a:p>
          <a:p>
            <a:pPr marL="2856230" marR="5080" indent="-2844165">
              <a:lnSpc>
                <a:spcPct val="120000"/>
              </a:lnSpc>
              <a:spcBef>
                <a:spcPts val="2895"/>
              </a:spcBef>
              <a:tabLst>
                <a:tab pos="7471409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=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sex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year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litter_size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dam_age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	group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dob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animal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e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73676" y="3651377"/>
            <a:ext cx="871855" cy="450850"/>
            <a:chOff x="3973676" y="3651377"/>
            <a:chExt cx="871855" cy="450850"/>
          </a:xfrm>
        </p:grpSpPr>
        <p:sp>
          <p:nvSpPr>
            <p:cNvPr id="10" name="object 10"/>
            <p:cNvSpPr/>
            <p:nvPr/>
          </p:nvSpPr>
          <p:spPr>
            <a:xfrm>
              <a:off x="3992726" y="3651377"/>
              <a:ext cx="0" cy="431800"/>
            </a:xfrm>
            <a:custGeom>
              <a:avLst/>
              <a:gdLst/>
              <a:ahLst/>
              <a:cxnLst/>
              <a:rect l="l" t="t" r="r" b="b"/>
              <a:pathLst>
                <a:path h="431800">
                  <a:moveTo>
                    <a:pt x="0" y="0"/>
                  </a:moveTo>
                  <a:lnTo>
                    <a:pt x="1" y="431800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92725" y="4083177"/>
              <a:ext cx="831850" cy="0"/>
            </a:xfrm>
            <a:custGeom>
              <a:avLst/>
              <a:gdLst/>
              <a:ahLst/>
              <a:cxnLst/>
              <a:rect l="l" t="t" r="r" b="b"/>
              <a:pathLst>
                <a:path w="831850">
                  <a:moveTo>
                    <a:pt x="831815" y="0"/>
                  </a:moveTo>
                  <a:lnTo>
                    <a:pt x="0" y="1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26273" y="3651377"/>
              <a:ext cx="0" cy="431800"/>
            </a:xfrm>
            <a:custGeom>
              <a:avLst/>
              <a:gdLst/>
              <a:ahLst/>
              <a:cxnLst/>
              <a:rect l="l" t="t" r="r" b="b"/>
              <a:pathLst>
                <a:path h="431800">
                  <a:moveTo>
                    <a:pt x="0" y="0"/>
                  </a:moveTo>
                  <a:lnTo>
                    <a:pt x="1" y="431800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205574" y="3651377"/>
            <a:ext cx="3005455" cy="450850"/>
            <a:chOff x="5205574" y="3651377"/>
            <a:chExt cx="3005455" cy="450850"/>
          </a:xfrm>
        </p:grpSpPr>
        <p:sp>
          <p:nvSpPr>
            <p:cNvPr id="14" name="object 14"/>
            <p:cNvSpPr/>
            <p:nvPr/>
          </p:nvSpPr>
          <p:spPr>
            <a:xfrm>
              <a:off x="5224624" y="3651377"/>
              <a:ext cx="0" cy="431800"/>
            </a:xfrm>
            <a:custGeom>
              <a:avLst/>
              <a:gdLst/>
              <a:ahLst/>
              <a:cxnLst/>
              <a:rect l="l" t="t" r="r" b="b"/>
              <a:pathLst>
                <a:path h="431800">
                  <a:moveTo>
                    <a:pt x="0" y="0"/>
                  </a:moveTo>
                  <a:lnTo>
                    <a:pt x="1" y="431800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4624" y="4083177"/>
              <a:ext cx="2961005" cy="0"/>
            </a:xfrm>
            <a:custGeom>
              <a:avLst/>
              <a:gdLst/>
              <a:ahLst/>
              <a:cxnLst/>
              <a:rect l="l" t="t" r="r" b="b"/>
              <a:pathLst>
                <a:path w="2961004">
                  <a:moveTo>
                    <a:pt x="2960707" y="0"/>
                  </a:moveTo>
                  <a:lnTo>
                    <a:pt x="0" y="1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91495" y="3651377"/>
              <a:ext cx="0" cy="431800"/>
            </a:xfrm>
            <a:custGeom>
              <a:avLst/>
              <a:gdLst/>
              <a:ahLst/>
              <a:cxnLst/>
              <a:rect l="l" t="t" r="r" b="b"/>
              <a:pathLst>
                <a:path h="431800">
                  <a:moveTo>
                    <a:pt x="0" y="0"/>
                  </a:moveTo>
                  <a:lnTo>
                    <a:pt x="1" y="431800"/>
                  </a:lnTo>
                </a:path>
              </a:pathLst>
            </a:custGeom>
            <a:ln w="38100">
              <a:solidFill>
                <a:srgbClr val="009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82856" y="4172204"/>
            <a:ext cx="1428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325F"/>
                </a:solidFill>
                <a:latin typeface="Segoe UI"/>
                <a:cs typeface="Segoe UI"/>
              </a:rPr>
              <a:t>RANDOM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31131" y="4227067"/>
            <a:ext cx="1336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325F"/>
                </a:solidFill>
                <a:latin typeface="Segoe UI"/>
                <a:cs typeface="Segoe UI"/>
              </a:rPr>
              <a:t>covariate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60" dirty="0"/>
              <a:t> </a:t>
            </a:r>
            <a:r>
              <a:rPr dirty="0"/>
              <a:t>parameter</a:t>
            </a:r>
            <a:r>
              <a:rPr spc="-50" dirty="0"/>
              <a:t> </a:t>
            </a:r>
            <a:r>
              <a:rPr dirty="0"/>
              <a:t>file:</a:t>
            </a:r>
            <a:r>
              <a:rPr spc="-50" dirty="0"/>
              <a:t> </a:t>
            </a: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42" y="1178695"/>
            <a:ext cx="6104056" cy="55491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12564" y="1098803"/>
            <a:ext cx="6931025" cy="159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y</a:t>
            </a:r>
            <a:r>
              <a:rPr sz="3200" b="1" spc="-3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=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sex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year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litter_size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dam_age</a:t>
            </a:r>
            <a:endParaRPr sz="3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  <a:tabLst>
                <a:tab pos="462915" algn="l"/>
              </a:tabLst>
            </a:pP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	group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dob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endParaRPr sz="320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animal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60" dirty="0"/>
              <a:t> </a:t>
            </a:r>
            <a:r>
              <a:rPr dirty="0"/>
              <a:t>parameter</a:t>
            </a:r>
            <a:r>
              <a:rPr spc="-50" dirty="0"/>
              <a:t> </a:t>
            </a:r>
            <a:r>
              <a:rPr dirty="0"/>
              <a:t>file:</a:t>
            </a:r>
            <a:r>
              <a:rPr spc="-50" dirty="0"/>
              <a:t> </a:t>
            </a: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43" y="1078029"/>
            <a:ext cx="4721166" cy="56154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01453" y="1098803"/>
            <a:ext cx="6953250" cy="159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=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sex</a:t>
            </a:r>
            <a:r>
              <a:rPr sz="3200" b="1" spc="-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year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litter_size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dam_age</a:t>
            </a:r>
            <a:endParaRPr sz="3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  <a:tabLst>
                <a:tab pos="462915" algn="l"/>
              </a:tabLst>
            </a:pP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	group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dob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endParaRPr sz="3200">
              <a:latin typeface="Arial MT"/>
              <a:cs typeface="Arial MT"/>
            </a:endParaRPr>
          </a:p>
          <a:p>
            <a:pPr marL="114300" algn="ctr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animal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60" dirty="0"/>
              <a:t> </a:t>
            </a:r>
            <a:r>
              <a:rPr dirty="0"/>
              <a:t>parameter</a:t>
            </a:r>
            <a:r>
              <a:rPr spc="-50" dirty="0"/>
              <a:t> </a:t>
            </a:r>
            <a:r>
              <a:rPr dirty="0"/>
              <a:t>file:</a:t>
            </a:r>
            <a:r>
              <a:rPr spc="-50" dirty="0"/>
              <a:t> </a:t>
            </a: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43" y="1078029"/>
            <a:ext cx="4367649" cy="55364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00658" y="1098803"/>
            <a:ext cx="6955155" cy="159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=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sex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year</a:t>
            </a:r>
            <a:r>
              <a:rPr sz="3200" b="1" spc="-2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litter_size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dam_age</a:t>
            </a:r>
            <a:endParaRPr sz="3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  <a:tabLst>
                <a:tab pos="462915" algn="l"/>
              </a:tabLst>
            </a:pP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	group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dob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endParaRPr sz="320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animal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60" dirty="0"/>
              <a:t> </a:t>
            </a:r>
            <a:r>
              <a:rPr dirty="0"/>
              <a:t>parameter</a:t>
            </a:r>
            <a:r>
              <a:rPr spc="-50" dirty="0"/>
              <a:t> </a:t>
            </a:r>
            <a:r>
              <a:rPr dirty="0"/>
              <a:t>file:</a:t>
            </a:r>
            <a:r>
              <a:rPr spc="-50" dirty="0"/>
              <a:t> </a:t>
            </a: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392" y="1078029"/>
            <a:ext cx="4818768" cy="55364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45096" y="1098803"/>
            <a:ext cx="7066280" cy="159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=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sex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year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litter_size</a:t>
            </a:r>
            <a:r>
              <a:rPr sz="3200" b="1" spc="-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dam_age</a:t>
            </a:r>
            <a:endParaRPr sz="3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  <a:tabLst>
                <a:tab pos="462915" algn="l"/>
              </a:tabLst>
            </a:pP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	group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dob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endParaRPr sz="320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animal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60" dirty="0"/>
              <a:t> </a:t>
            </a:r>
            <a:r>
              <a:rPr dirty="0"/>
              <a:t>parameter</a:t>
            </a:r>
            <a:r>
              <a:rPr spc="-50" dirty="0"/>
              <a:t> </a:t>
            </a:r>
            <a:r>
              <a:rPr dirty="0"/>
              <a:t>file:</a:t>
            </a:r>
            <a:r>
              <a:rPr spc="-50" dirty="0"/>
              <a:t> </a:t>
            </a: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392" y="1274978"/>
            <a:ext cx="4818768" cy="51425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9546" y="1098803"/>
            <a:ext cx="6976745" cy="159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=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sex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year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litter_size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b="1" spc="-10" dirty="0">
                <a:solidFill>
                  <a:srgbClr val="535353"/>
                </a:solidFill>
                <a:latin typeface="Arial"/>
                <a:cs typeface="Arial"/>
              </a:rPr>
              <a:t>dam_age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  <a:tabLst>
                <a:tab pos="462915" algn="l"/>
              </a:tabLst>
            </a:pP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	group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dob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endParaRPr sz="320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animal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60" dirty="0"/>
              <a:t> </a:t>
            </a:r>
            <a:r>
              <a:rPr dirty="0"/>
              <a:t>parameter</a:t>
            </a:r>
            <a:r>
              <a:rPr spc="-50" dirty="0"/>
              <a:t> </a:t>
            </a:r>
            <a:r>
              <a:rPr dirty="0"/>
              <a:t>file:</a:t>
            </a:r>
            <a:r>
              <a:rPr spc="-50" dirty="0"/>
              <a:t> </a:t>
            </a: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473" y="1100836"/>
            <a:ext cx="4796624" cy="55345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y</a:t>
            </a:r>
            <a:r>
              <a:rPr spc="-30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dirty="0"/>
              <a:t>sex</a:t>
            </a:r>
            <a:r>
              <a:rPr spc="-25" dirty="0"/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dirty="0"/>
              <a:t>year</a:t>
            </a:r>
            <a:r>
              <a:rPr spc="-25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litter_size</a:t>
            </a:r>
            <a:r>
              <a:rPr spc="-3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spc="-10" dirty="0"/>
              <a:t>dam_age</a:t>
            </a:r>
          </a:p>
          <a:p>
            <a:pPr algn="ctr">
              <a:lnSpc>
                <a:spcPct val="100000"/>
              </a:lnSpc>
              <a:spcBef>
                <a:spcPts val="45"/>
              </a:spcBef>
              <a:tabLst>
                <a:tab pos="462915" algn="l"/>
              </a:tabLst>
            </a:pPr>
            <a:r>
              <a:rPr spc="-50" dirty="0"/>
              <a:t>+</a:t>
            </a:r>
            <a:r>
              <a:rPr dirty="0"/>
              <a:t>	</a:t>
            </a:r>
            <a:r>
              <a:rPr b="1" dirty="0">
                <a:latin typeface="Arial"/>
                <a:cs typeface="Arial"/>
              </a:rPr>
              <a:t>group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line</a:t>
            </a:r>
            <a:r>
              <a:rPr spc="-30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dob</a:t>
            </a:r>
            <a:r>
              <a:rPr spc="-30" dirty="0"/>
              <a:t> </a:t>
            </a:r>
            <a:r>
              <a:rPr spc="-50" dirty="0"/>
              <a:t>+</a:t>
            </a:r>
          </a:p>
          <a:p>
            <a:pPr marL="1270" algn="ctr">
              <a:lnSpc>
                <a:spcPct val="100000"/>
              </a:lnSpc>
              <a:spcBef>
                <a:spcPts val="770"/>
              </a:spcBef>
            </a:pPr>
            <a:r>
              <a:rPr dirty="0"/>
              <a:t>litter</a:t>
            </a:r>
            <a:r>
              <a:rPr spc="-3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dirty="0"/>
              <a:t>animal</a:t>
            </a:r>
            <a:r>
              <a:rPr spc="-2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60" dirty="0"/>
              <a:t> </a:t>
            </a:r>
            <a:r>
              <a:rPr dirty="0"/>
              <a:t>parameter</a:t>
            </a:r>
            <a:r>
              <a:rPr spc="-50" dirty="0"/>
              <a:t> </a:t>
            </a:r>
            <a:r>
              <a:rPr dirty="0"/>
              <a:t>file:</a:t>
            </a:r>
            <a:r>
              <a:rPr spc="-50" dirty="0"/>
              <a:t> </a:t>
            </a: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36" y="1078029"/>
            <a:ext cx="5198462" cy="56143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y</a:t>
            </a:r>
            <a:r>
              <a:rPr spc="-30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dirty="0"/>
              <a:t>sex</a:t>
            </a:r>
            <a:r>
              <a:rPr spc="-25" dirty="0"/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dirty="0"/>
              <a:t>year</a:t>
            </a:r>
            <a:r>
              <a:rPr spc="-25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litter_size</a:t>
            </a:r>
            <a:r>
              <a:rPr spc="-3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spc="-10" dirty="0"/>
              <a:t>dam_age</a:t>
            </a:r>
          </a:p>
          <a:p>
            <a:pPr algn="ctr">
              <a:lnSpc>
                <a:spcPct val="100000"/>
              </a:lnSpc>
              <a:spcBef>
                <a:spcPts val="45"/>
              </a:spcBef>
              <a:tabLst>
                <a:tab pos="462915" algn="l"/>
              </a:tabLst>
            </a:pPr>
            <a:r>
              <a:rPr spc="-50" dirty="0"/>
              <a:t>+</a:t>
            </a:r>
            <a:r>
              <a:rPr dirty="0"/>
              <a:t>	group</a:t>
            </a:r>
            <a:r>
              <a:rPr spc="-30" dirty="0"/>
              <a:t> </a:t>
            </a:r>
            <a:r>
              <a:rPr dirty="0"/>
              <a:t>+</a:t>
            </a:r>
            <a:r>
              <a:rPr spc="-10" dirty="0"/>
              <a:t> </a:t>
            </a:r>
            <a:r>
              <a:rPr b="1" dirty="0">
                <a:latin typeface="Arial"/>
                <a:cs typeface="Arial"/>
              </a:rPr>
              <a:t>line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dirty="0"/>
              <a:t>dob</a:t>
            </a:r>
            <a:r>
              <a:rPr spc="-25" dirty="0"/>
              <a:t> </a:t>
            </a:r>
            <a:r>
              <a:rPr spc="-50" dirty="0"/>
              <a:t>+</a:t>
            </a:r>
          </a:p>
          <a:p>
            <a:pPr marL="1270" algn="ctr">
              <a:lnSpc>
                <a:spcPct val="100000"/>
              </a:lnSpc>
              <a:spcBef>
                <a:spcPts val="770"/>
              </a:spcBef>
            </a:pPr>
            <a:r>
              <a:rPr dirty="0"/>
              <a:t>litter</a:t>
            </a:r>
            <a:r>
              <a:rPr spc="-3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dirty="0"/>
              <a:t>animal</a:t>
            </a:r>
            <a:r>
              <a:rPr spc="-2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60" dirty="0"/>
              <a:t> </a:t>
            </a:r>
            <a:r>
              <a:rPr dirty="0"/>
              <a:t>parameter</a:t>
            </a:r>
            <a:r>
              <a:rPr spc="-50" dirty="0"/>
              <a:t> </a:t>
            </a:r>
            <a:r>
              <a:rPr dirty="0"/>
              <a:t>file:</a:t>
            </a:r>
            <a:r>
              <a:rPr spc="-50" dirty="0"/>
              <a:t> </a:t>
            </a: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36" y="1078029"/>
            <a:ext cx="6675063" cy="56498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y</a:t>
            </a:r>
            <a:r>
              <a:rPr spc="-30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dirty="0"/>
              <a:t>sex</a:t>
            </a:r>
            <a:r>
              <a:rPr spc="-25" dirty="0"/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dirty="0"/>
              <a:t>year</a:t>
            </a:r>
            <a:r>
              <a:rPr spc="-25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litter_size</a:t>
            </a:r>
            <a:r>
              <a:rPr spc="-3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spc="-10" dirty="0"/>
              <a:t>dam_age</a:t>
            </a:r>
          </a:p>
          <a:p>
            <a:pPr algn="ctr">
              <a:lnSpc>
                <a:spcPct val="100000"/>
              </a:lnSpc>
              <a:spcBef>
                <a:spcPts val="45"/>
              </a:spcBef>
              <a:tabLst>
                <a:tab pos="462915" algn="l"/>
              </a:tabLst>
            </a:pPr>
            <a:r>
              <a:rPr spc="-50" dirty="0"/>
              <a:t>+</a:t>
            </a:r>
            <a:r>
              <a:rPr dirty="0"/>
              <a:t>	group</a:t>
            </a:r>
            <a:r>
              <a:rPr spc="-30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line</a:t>
            </a:r>
            <a:r>
              <a:rPr spc="-30" dirty="0"/>
              <a:t> </a:t>
            </a:r>
            <a:r>
              <a:rPr dirty="0"/>
              <a:t>+</a:t>
            </a:r>
            <a:r>
              <a:rPr spc="-10" dirty="0"/>
              <a:t> </a:t>
            </a:r>
            <a:r>
              <a:rPr b="1" dirty="0">
                <a:latin typeface="Arial"/>
                <a:cs typeface="Arial"/>
              </a:rPr>
              <a:t>dob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spc="-50" dirty="0"/>
              <a:t>+</a:t>
            </a:r>
          </a:p>
          <a:p>
            <a:pPr marL="1270" algn="ctr">
              <a:lnSpc>
                <a:spcPct val="100000"/>
              </a:lnSpc>
              <a:spcBef>
                <a:spcPts val="770"/>
              </a:spcBef>
            </a:pPr>
            <a:r>
              <a:rPr dirty="0"/>
              <a:t>litter</a:t>
            </a:r>
            <a:r>
              <a:rPr spc="-3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dirty="0"/>
              <a:t>animal</a:t>
            </a:r>
            <a:r>
              <a:rPr spc="-2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75" dirty="0"/>
              <a:t> </a:t>
            </a:r>
            <a:r>
              <a:rPr dirty="0"/>
              <a:t>parameter</a:t>
            </a:r>
            <a:r>
              <a:rPr spc="-70" dirty="0"/>
              <a:t> </a:t>
            </a:r>
            <a:r>
              <a:rPr dirty="0"/>
              <a:t>file:</a:t>
            </a:r>
            <a:r>
              <a:rPr spc="-70" dirty="0"/>
              <a:t> </a:t>
            </a:r>
            <a:r>
              <a:rPr dirty="0"/>
              <a:t>random</a:t>
            </a:r>
            <a:r>
              <a:rPr spc="-65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43" y="1078029"/>
            <a:ext cx="5440555" cy="56498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71477" y="1098803"/>
            <a:ext cx="5104765" cy="15925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065" marR="5080" algn="ctr">
              <a:lnSpc>
                <a:spcPct val="101299"/>
              </a:lnSpc>
              <a:spcBef>
                <a:spcPts val="50"/>
              </a:spcBef>
              <a:tabLst>
                <a:tab pos="227901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=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sex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year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litter_size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dam_age</a:t>
            </a:r>
            <a:r>
              <a:rPr sz="32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	group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endParaRPr sz="320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765"/>
              </a:spcBef>
            </a:pP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litter</a:t>
            </a:r>
            <a:r>
              <a:rPr sz="3200" b="1" spc="-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animal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75" dirty="0"/>
              <a:t> </a:t>
            </a:r>
            <a:r>
              <a:rPr dirty="0"/>
              <a:t>parameter</a:t>
            </a:r>
            <a:r>
              <a:rPr spc="-70" dirty="0"/>
              <a:t> </a:t>
            </a:r>
            <a:r>
              <a:rPr dirty="0"/>
              <a:t>file:</a:t>
            </a:r>
            <a:r>
              <a:rPr spc="-70" dirty="0"/>
              <a:t> </a:t>
            </a:r>
            <a:r>
              <a:rPr dirty="0"/>
              <a:t>random</a:t>
            </a:r>
            <a:r>
              <a:rPr spc="-65" dirty="0"/>
              <a:t> </a:t>
            </a:r>
            <a:r>
              <a:rPr spc="-10" dirty="0"/>
              <a:t>effects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1477" y="1098803"/>
            <a:ext cx="5104765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ct val="100299"/>
              </a:lnSpc>
              <a:spcBef>
                <a:spcPts val="85"/>
              </a:spcBef>
              <a:tabLst>
                <a:tab pos="227901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=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sex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year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litter_size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dam_age</a:t>
            </a:r>
            <a:r>
              <a:rPr sz="32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	group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line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+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animal</a:t>
            </a:r>
            <a:r>
              <a:rPr sz="3200" b="1" spc="-4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+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e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45" y="1078029"/>
            <a:ext cx="5888154" cy="563991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RENUMF90</a:t>
            </a:r>
            <a:r>
              <a:rPr spc="-85" dirty="0"/>
              <a:t> </a:t>
            </a:r>
            <a:r>
              <a:rPr dirty="0"/>
              <a:t>parameter</a:t>
            </a:r>
            <a:r>
              <a:rPr spc="-75" dirty="0"/>
              <a:t> </a:t>
            </a:r>
            <a:r>
              <a:rPr dirty="0"/>
              <a:t>file:</a:t>
            </a:r>
            <a:r>
              <a:rPr spc="-75" dirty="0"/>
              <a:t> </a:t>
            </a:r>
            <a:r>
              <a:rPr dirty="0"/>
              <a:t>optional</a:t>
            </a:r>
            <a:r>
              <a:rPr spc="-80" dirty="0"/>
              <a:t> </a:t>
            </a:r>
            <a:r>
              <a:rPr spc="-10"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140" y="1001267"/>
            <a:ext cx="6069965" cy="39243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OPTION</a:t>
            </a:r>
            <a:r>
              <a:rPr sz="3200" b="1" spc="-7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35353"/>
                </a:solidFill>
                <a:latin typeface="Arial"/>
                <a:cs typeface="Arial"/>
              </a:rPr>
              <a:t>use_yams</a:t>
            </a:r>
            <a:endParaRPr sz="3200">
              <a:latin typeface="Arial"/>
              <a:cs typeface="Arial"/>
            </a:endParaRPr>
          </a:p>
          <a:p>
            <a:pPr marL="12700" marR="749935">
              <a:lnSpc>
                <a:spcPct val="119700"/>
              </a:lnSpc>
              <a:spcBef>
                <a:spcPts val="15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Uses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programme</a:t>
            </a:r>
            <a:r>
              <a:rPr sz="3200" spc="-9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YAMS.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Improves</a:t>
            </a:r>
            <a:r>
              <a:rPr sz="3200" spc="-6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computational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time. </a:t>
            </a: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OPTION</a:t>
            </a:r>
            <a:r>
              <a:rPr sz="3200" b="1" spc="-7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35353"/>
                </a:solidFill>
                <a:latin typeface="Arial"/>
                <a:cs typeface="Arial"/>
              </a:rPr>
              <a:t>origID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55" dirty="0">
                <a:solidFill>
                  <a:srgbClr val="535353"/>
                </a:solidFill>
                <a:latin typeface="Arial MT"/>
                <a:cs typeface="Arial MT"/>
              </a:rPr>
              <a:t>To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keep</a:t>
            </a:r>
            <a:r>
              <a:rPr sz="32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original</a:t>
            </a:r>
            <a:r>
              <a:rPr sz="32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ids</a:t>
            </a:r>
            <a:endParaRPr sz="3200">
              <a:latin typeface="Arial MT"/>
              <a:cs typeface="Arial MT"/>
            </a:endParaRPr>
          </a:p>
          <a:p>
            <a:pPr marL="12700" marR="5080">
              <a:lnSpc>
                <a:spcPts val="3790"/>
              </a:lnSpc>
              <a:spcBef>
                <a:spcPts val="200"/>
              </a:spcBef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(it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makes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it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easier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when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retrieving results)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43" y="1078029"/>
            <a:ext cx="4924955" cy="563448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spc="-150" dirty="0"/>
              <a:t> </a:t>
            </a:r>
            <a:r>
              <a:rPr spc="-10" dirty="0"/>
              <a:t>RENUMF90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98803"/>
            <a:ext cx="54209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Renumf90</a:t>
            </a:r>
            <a:r>
              <a:rPr sz="32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&lt;parameter_file&gt;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9880" y="1609807"/>
            <a:ext cx="5124119" cy="50037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spc="-150" dirty="0"/>
              <a:t> </a:t>
            </a:r>
            <a:r>
              <a:rPr spc="-10" dirty="0"/>
              <a:t>BLUPF90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98803"/>
            <a:ext cx="10360660" cy="41192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0" marR="5080" indent="-342900">
              <a:lnSpc>
                <a:spcPct val="101299"/>
              </a:lnSpc>
              <a:spcBef>
                <a:spcPts val="50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Renumf90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will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generate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the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parameter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file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for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BLUPF90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called</a:t>
            </a:r>
            <a:r>
              <a:rPr sz="3200" spc="-4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b="1" spc="-10" dirty="0">
                <a:solidFill>
                  <a:srgbClr val="535353"/>
                </a:solidFill>
                <a:latin typeface="Arial"/>
                <a:cs typeface="Arial"/>
              </a:rPr>
              <a:t>renf90.par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ts val="3815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We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can</a:t>
            </a:r>
            <a:r>
              <a:rPr sz="32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run</a:t>
            </a:r>
            <a:r>
              <a:rPr sz="3200" spc="-4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blupf90</a:t>
            </a:r>
            <a:endParaRPr sz="3200">
              <a:latin typeface="Arial MT"/>
              <a:cs typeface="Arial MT"/>
            </a:endParaRPr>
          </a:p>
          <a:p>
            <a:pPr marL="355600">
              <a:lnSpc>
                <a:spcPts val="3804"/>
              </a:lnSpc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as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done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with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renumf90:</a:t>
            </a:r>
            <a:endParaRPr sz="3200">
              <a:latin typeface="Arial MT"/>
              <a:cs typeface="Arial MT"/>
            </a:endParaRPr>
          </a:p>
          <a:p>
            <a:pPr marL="355600">
              <a:lnSpc>
                <a:spcPts val="3829"/>
              </a:lnSpc>
            </a:pPr>
            <a:r>
              <a:rPr sz="3200" b="1" dirty="0">
                <a:solidFill>
                  <a:srgbClr val="535353"/>
                </a:solidFill>
                <a:latin typeface="Arial"/>
                <a:cs typeface="Arial"/>
              </a:rPr>
              <a:t>blupf90+</a:t>
            </a:r>
            <a:r>
              <a:rPr sz="3200" b="1" spc="-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35353"/>
                </a:solidFill>
                <a:latin typeface="Arial"/>
                <a:cs typeface="Arial"/>
              </a:rPr>
              <a:t>renf90.par</a:t>
            </a:r>
            <a:endParaRPr sz="3200">
              <a:latin typeface="Arial"/>
              <a:cs typeface="Arial"/>
            </a:endParaRPr>
          </a:p>
          <a:p>
            <a:pPr marL="355600" marR="5036820" indent="-342900">
              <a:lnSpc>
                <a:spcPct val="100299"/>
              </a:lnSpc>
              <a:spcBef>
                <a:spcPts val="73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All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files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generated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by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535353"/>
                </a:solidFill>
                <a:latin typeface="Arial MT"/>
                <a:cs typeface="Arial MT"/>
              </a:rPr>
              <a:t>both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programmes</a:t>
            </a:r>
            <a:r>
              <a:rPr sz="3200" spc="-5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have</a:t>
            </a:r>
            <a:r>
              <a:rPr sz="3200" spc="-3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standard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names</a:t>
            </a:r>
            <a:r>
              <a:rPr sz="3200" spc="-30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and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structures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2059755"/>
            <a:ext cx="5365418" cy="455378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Understanding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740" y="1098803"/>
            <a:ext cx="21062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535353"/>
                </a:solidFill>
                <a:latin typeface="Arial MT"/>
                <a:cs typeface="Arial MT"/>
              </a:rPr>
              <a:t>R</a:t>
            </a:r>
            <a:r>
              <a:rPr sz="3200" spc="-25" dirty="0">
                <a:solidFill>
                  <a:srgbClr val="53535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35353"/>
                </a:solidFill>
                <a:latin typeface="Arial MT"/>
                <a:cs typeface="Arial MT"/>
              </a:rPr>
              <a:t>again!!!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5961C85CE9C4458999A6D399E262FE" ma:contentTypeVersion="8" ma:contentTypeDescription="Create a new document." ma:contentTypeScope="" ma:versionID="e58849213d7c8811602413648b2181db">
  <xsd:schema xmlns:xsd="http://www.w3.org/2001/XMLSchema" xmlns:xs="http://www.w3.org/2001/XMLSchema" xmlns:p="http://schemas.microsoft.com/office/2006/metadata/properties" xmlns:ns2="42d9e66e-34e8-473a-9896-5c885ff3768e" targetNamespace="http://schemas.microsoft.com/office/2006/metadata/properties" ma:root="true" ma:fieldsID="e0084fcae77f3f2a1580b3ebb24b7378" ns2:_="">
    <xsd:import namespace="42d9e66e-34e8-473a-9896-5c885ff376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9e66e-34e8-473a-9896-5c885ff37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AC9D64-9004-44F6-9C35-DBEFD12C38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d9e66e-34e8-473a-9896-5c885ff376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0E06A1-D323-4D8A-9092-9084C9DE593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ABBDB4A-A1ED-44E6-9C16-F5DA26256C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680</Words>
  <Application>Microsoft Office PowerPoint</Application>
  <PresentationFormat>Widescreen</PresentationFormat>
  <Paragraphs>138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Arial MT</vt:lpstr>
      <vt:lpstr>Segoe UI</vt:lpstr>
      <vt:lpstr>Office Theme</vt:lpstr>
      <vt:lpstr>Estimating breeding values with BLUPF90</vt:lpstr>
      <vt:lpstr>What is BLUPF90</vt:lpstr>
      <vt:lpstr>What is BLUPF90</vt:lpstr>
      <vt:lpstr>What is BLUPF90</vt:lpstr>
      <vt:lpstr>For this course</vt:lpstr>
      <vt:lpstr>Input files</vt:lpstr>
      <vt:lpstr>Input files</vt:lpstr>
      <vt:lpstr>Pedigree Blup (PBLUP)</vt:lpstr>
      <vt:lpstr>Getting started: RENUMF90</vt:lpstr>
      <vt:lpstr>Parameter files</vt:lpstr>
      <vt:lpstr>Parameter files</vt:lpstr>
      <vt:lpstr>RENUMF90 parameter file</vt:lpstr>
      <vt:lpstr>RENUMF90 parameter file</vt:lpstr>
      <vt:lpstr>RENUMF90 parameter file</vt:lpstr>
      <vt:lpstr>RENUMF90 parameter file</vt:lpstr>
      <vt:lpstr>RENUMF90 parameter file</vt:lpstr>
      <vt:lpstr>RENUMF90 parameter file: fixed effects</vt:lpstr>
      <vt:lpstr>RENUMF90 parameter file: fixed effects</vt:lpstr>
      <vt:lpstr>RENUMF90 parameter file: fixed effects</vt:lpstr>
      <vt:lpstr>RENUMF90 parameter file: fixed effects</vt:lpstr>
      <vt:lpstr>RENUMF90 parameter file: fixed effects</vt:lpstr>
      <vt:lpstr>RENUMF90 parameter file: fixed effects</vt:lpstr>
      <vt:lpstr>RENUMF90 parameter file: fixed effects</vt:lpstr>
      <vt:lpstr>RENUMF90 parameter file: fixed effects</vt:lpstr>
      <vt:lpstr>RENUMF90 parameter file: random effects</vt:lpstr>
      <vt:lpstr>RENUMF90 parameter file: random effects</vt:lpstr>
      <vt:lpstr>RENUMF90 parameter file: optional arguments</vt:lpstr>
      <vt:lpstr>Running RENUMF90</vt:lpstr>
      <vt:lpstr>Running BLUPF90</vt:lpstr>
      <vt:lpstr>Understanding the 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Houaga, Isidore (ILRI)</cp:lastModifiedBy>
  <cp:revision>1</cp:revision>
  <dcterms:created xsi:type="dcterms:W3CDTF">2025-01-22T10:10:35Z</dcterms:created>
  <dcterms:modified xsi:type="dcterms:W3CDTF">2026-02-18T05:14:31Z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2024-02-20T00:00:00Z</vt:filetime>
  </property>
  <property fmtid="{D5CDD505-2E9C-101B-9397-08002B2CF9AE}" pid="3" name="LastSaved">
    <vt:filetime>2025-01-22T00:00:00Z</vt:filetime>
  </property>
  <property fmtid="{D5CDD505-2E9C-101B-9397-08002B2CF9AE}" pid="4" name="Producer">
    <vt:lpwstr>macOS Version 14.1.1 (Build 23B81) Quartz PDFContext</vt:lpwstr>
  </property>
  <property fmtid="{D5CDD505-2E9C-101B-9397-08002B2CF9AE}" pid="5" name="ContentTypeId">
    <vt:lpwstr>0x010100615961C85CE9C4458999A6D399E262FE</vt:lpwstr>
  </property>
</Properties>
</file>